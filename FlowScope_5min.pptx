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均值</c:v>
                </c:pt>
              </c:strCache>
            </c:strRef>
          </c:tx>
          <c:spPr>
            <a:ln w="25400">
              <a:solidFill>
                <a:srgbClr val="E5E7EB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>3</c:v>
                </c:pt>
                <c:pt idx="4">
                  <c:v/>
                </c:pt>
                <c:pt idx="5">
                  <c:v/>
                </c:pt>
                <c:pt idx="6">
                  <c:v>6</c:v>
                </c:pt>
                <c:pt idx="7">
                  <c:v/>
                </c:pt>
                <c:pt idx="8">
                  <c:v/>
                </c:pt>
                <c:pt idx="9">
                  <c:v>9</c:v>
                </c:pt>
                <c:pt idx="10">
                  <c:v/>
                </c:pt>
                <c:pt idx="11">
                  <c:v/>
                </c:pt>
                <c:pt idx="12">
                  <c:v>12</c:v>
                </c:pt>
                <c:pt idx="13">
                  <c:v/>
                </c:pt>
                <c:pt idx="14">
                  <c:v/>
                </c:pt>
                <c:pt idx="15">
                  <c:v>15</c:v>
                </c:pt>
                <c:pt idx="16">
                  <c:v/>
                </c:pt>
                <c:pt idx="17">
                  <c:v/>
                </c:pt>
                <c:pt idx="18">
                  <c:v>18</c:v>
                </c:pt>
                <c:pt idx="19">
                  <c:v/>
                </c:pt>
                <c:pt idx="20">
                  <c:v/>
                </c:pt>
                <c:pt idx="21">
                  <c:v>21</c:v>
                </c:pt>
                <c:pt idx="22">
                  <c:v/>
                </c:pt>
                <c:pt idx="23">
                  <c:v/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相对强度</c:v>
                </c:pt>
              </c:strCache>
            </c:strRef>
          </c:tx>
          <c:spPr>
            <a:ln w="22860">
              <a:solidFill>
                <a:srgbClr val="1D4ED8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>3</c:v>
                </c:pt>
                <c:pt idx="4">
                  <c:v/>
                </c:pt>
                <c:pt idx="5">
                  <c:v/>
                </c:pt>
                <c:pt idx="6">
                  <c:v>6</c:v>
                </c:pt>
                <c:pt idx="7">
                  <c:v/>
                </c:pt>
                <c:pt idx="8">
                  <c:v/>
                </c:pt>
                <c:pt idx="9">
                  <c:v>9</c:v>
                </c:pt>
                <c:pt idx="10">
                  <c:v/>
                </c:pt>
                <c:pt idx="11">
                  <c:v/>
                </c:pt>
                <c:pt idx="12">
                  <c:v>12</c:v>
                </c:pt>
                <c:pt idx="13">
                  <c:v/>
                </c:pt>
                <c:pt idx="14">
                  <c:v/>
                </c:pt>
                <c:pt idx="15">
                  <c:v>15</c:v>
                </c:pt>
                <c:pt idx="16">
                  <c:v/>
                </c:pt>
                <c:pt idx="17">
                  <c:v/>
                </c:pt>
                <c:pt idx="18">
                  <c:v>18</c:v>
                </c:pt>
                <c:pt idx="19">
                  <c:v/>
                </c:pt>
                <c:pt idx="20">
                  <c:v/>
                </c:pt>
                <c:pt idx="21">
                  <c:v>21</c:v>
                </c:pt>
                <c:pt idx="22">
                  <c:v/>
                </c:pt>
                <c:pt idx="23">
                  <c:v/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82.9000015258789</c:v>
                </c:pt>
                <c:pt idx="1">
                  <c:v>69.80000305175781</c:v>
                </c:pt>
                <c:pt idx="2">
                  <c:v>59.70000076293945</c:v>
                </c:pt>
                <c:pt idx="3">
                  <c:v>53.400001525878906</c:v>
                </c:pt>
                <c:pt idx="4">
                  <c:v>49.099998474121094</c:v>
                </c:pt>
                <c:pt idx="5">
                  <c:v>47.900001525878906</c:v>
                </c:pt>
                <c:pt idx="6">
                  <c:v>52.29999923706055</c:v>
                </c:pt>
                <c:pt idx="7">
                  <c:v>70.5</c:v>
                </c:pt>
                <c:pt idx="8">
                  <c:v>96.80000305175781</c:v>
                </c:pt>
                <c:pt idx="9">
                  <c:v>112.9000015258789</c:v>
                </c:pt>
                <c:pt idx="10">
                  <c:v>121.80000305175781</c:v>
                </c:pt>
                <c:pt idx="11">
                  <c:v>127.0999984741211</c:v>
                </c:pt>
                <c:pt idx="12">
                  <c:v>130.1999969482422</c:v>
                </c:pt>
                <c:pt idx="13">
                  <c:v>133.39999389648438</c:v>
                </c:pt>
                <c:pt idx="14">
                  <c:v>132.39999389648438</c:v>
                </c:pt>
                <c:pt idx="15">
                  <c:v>130.5</c:v>
                </c:pt>
                <c:pt idx="16">
                  <c:v>130.3000030517578</c:v>
                </c:pt>
                <c:pt idx="17">
                  <c:v>130.10000610351562</c:v>
                </c:pt>
                <c:pt idx="18">
                  <c:v>127.4000015258789</c:v>
                </c:pt>
                <c:pt idx="19">
                  <c:v>119.5</c:v>
                </c:pt>
                <c:pt idx="20">
                  <c:v>112.80000305175781</c:v>
                </c:pt>
                <c:pt idx="21">
                  <c:v>108.9000015258789</c:v>
                </c:pt>
                <c:pt idx="22">
                  <c:v>104.5</c:v>
                </c:pt>
                <c:pt idx="23">
                  <c:v>95.9000015258789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6350"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40.0"/>
          <c:min val="4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 w="6350"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6B728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真实值</c:v>
                </c:pt>
              </c:strCache>
            </c:strRef>
          </c:tx>
          <c:spPr>
            <a:ln w="25400">
              <a:solidFill>
                <a:srgbClr val="111111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21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23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12788.943</c:v>
                </c:pt>
                <c:pt idx="1">
                  <c:v>12315.925</c:v>
                </c:pt>
                <c:pt idx="2">
                  <c:v>11981.576</c:v>
                </c:pt>
                <c:pt idx="3">
                  <c:v>11888.775</c:v>
                </c:pt>
                <c:pt idx="4">
                  <c:v>11426.338</c:v>
                </c:pt>
                <c:pt idx="5">
                  <c:v>11711.229</c:v>
                </c:pt>
                <c:pt idx="6">
                  <c:v>11398.533</c:v>
                </c:pt>
                <c:pt idx="7">
                  <c:v>11440.518</c:v>
                </c:pt>
                <c:pt idx="8">
                  <c:v>11050.02</c:v>
                </c:pt>
                <c:pt idx="9">
                  <c:v>11071.99</c:v>
                </c:pt>
                <c:pt idx="10">
                  <c:v>10544.208</c:v>
                </c:pt>
                <c:pt idx="11">
                  <c:v>10778.327</c:v>
                </c:pt>
                <c:pt idx="12">
                  <c:v>10575.743</c:v>
                </c:pt>
                <c:pt idx="13">
                  <c:v>10377.726</c:v>
                </c:pt>
                <c:pt idx="14">
                  <c:v>10119.58</c:v>
                </c:pt>
                <c:pt idx="15">
                  <c:v>9536.598</c:v>
                </c:pt>
                <c:pt idx="16">
                  <c:v>9525.177</c:v>
                </c:pt>
                <c:pt idx="17">
                  <c:v>9729.874</c:v>
                </c:pt>
                <c:pt idx="18">
                  <c:v>9871.766</c:v>
                </c:pt>
                <c:pt idx="19">
                  <c:v>9726.101</c:v>
                </c:pt>
                <c:pt idx="20">
                  <c:v>9630.711</c:v>
                </c:pt>
                <c:pt idx="21">
                  <c:v>9569.878</c:v>
                </c:pt>
                <c:pt idx="22">
                  <c:v>9478.893</c:v>
                </c:pt>
                <c:pt idx="23">
                  <c:v>9488.284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预测值</c:v>
                </c:pt>
              </c:strCache>
            </c:strRef>
          </c:tx>
          <c:spPr>
            <a:ln w="22860">
              <a:solidFill>
                <a:srgbClr val="1D4ED8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21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22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>23</c:v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12846.761</c:v>
                </c:pt>
                <c:pt idx="1">
                  <c:v>12443.013</c:v>
                </c:pt>
                <c:pt idx="2">
                  <c:v>12225.466</c:v>
                </c:pt>
                <c:pt idx="3">
                  <c:v>12014.423</c:v>
                </c:pt>
                <c:pt idx="4">
                  <c:v>11792.327</c:v>
                </c:pt>
                <c:pt idx="5">
                  <c:v>11668.89</c:v>
                </c:pt>
                <c:pt idx="6">
                  <c:v>11193.809</c:v>
                </c:pt>
                <c:pt idx="7">
                  <c:v>10957.563</c:v>
                </c:pt>
                <c:pt idx="8">
                  <c:v>10864.522</c:v>
                </c:pt>
                <c:pt idx="9">
                  <c:v>10615.473</c:v>
                </c:pt>
                <c:pt idx="10">
                  <c:v>10461.913</c:v>
                </c:pt>
                <c:pt idx="11">
                  <c:v>10527.982</c:v>
                </c:pt>
                <c:pt idx="12">
                  <c:v>10509.262</c:v>
                </c:pt>
                <c:pt idx="13">
                  <c:v>10449.178</c:v>
                </c:pt>
                <c:pt idx="14">
                  <c:v>10401.258</c:v>
                </c:pt>
                <c:pt idx="15">
                  <c:v>10329.909</c:v>
                </c:pt>
                <c:pt idx="16">
                  <c:v>10290.122</c:v>
                </c:pt>
                <c:pt idx="17">
                  <c:v>10392.561</c:v>
                </c:pt>
                <c:pt idx="18">
                  <c:v>10293.066</c:v>
                </c:pt>
                <c:pt idx="19">
                  <c:v>10485.058</c:v>
                </c:pt>
                <c:pt idx="20">
                  <c:v>10612.85</c:v>
                </c:pt>
                <c:pt idx="21">
                  <c:v>10588.942</c:v>
                </c:pt>
                <c:pt idx="22">
                  <c:v>10612.319</c:v>
                </c:pt>
                <c:pt idx="23">
                  <c:v>10674.315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6350"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3500.0"/>
          <c:min val="9000.0"/>
        </c:scaling>
        <c:delete val="0"/>
        <c:axPos val="l"/>
        <c:majorGridlines>
          <c:spPr>
            <a:ln w="6350">
              <a:solidFill>
                <a:srgbClr val="E5E7EB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 w="6350">
            <a:solidFill>
              <a:srgbClr val="E5E7E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  <a:latin typeface="Arial"/>
              </a:defRPr>
            </a:pPr>
          </a:p>
        </c:txPr>
        <c:crossAx val="2118791784"/>
        <c:crosses val="autoZero"/>
        <c:majorUnit val="1500.0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PingFang SC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728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15 秒：这是一个区域流量分析与预测的本地 Web 应用。汇报分成三部分：数据与任务、技术实现、结果与限制。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秒：三个数据集都是区域级宽表。米兰 88 个区域、特伦蒂诺 223 个、济南 148 个，时间粒度分别是 10 分钟和 15 分钟。预测任务是给定 L 步历史，输出 H 步未来值，训练、验证、测试严格按时间切分。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秒：技术上分三层。前端 React 加 ECharts，后端 FastAPI，计算用 NumPy、pandas、scikit-learn 和 statsmodels，数据落在 NPZ、GeoJSON 和 SQLite。服务端同时托管前端构建产物和 REST API，训练任务走后台线程。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秒：后端第一块是数据与分析。DataStore 把 NPZ 读成 T×N 矩阵并缓存聚合结果；分析层用 pandas 做重采样，用 statsmodels 做 STL 和 ACF，用 SciPy 做周期图，空间自相关用 6 近邻加 199 次置换。聚类特征 28 维，标准化后再用 KMeans、GMM 或层次聚类。任务和实验记录放在 SQLite。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秒：预测引擎先构造窗口，训练历史 2016 步，输入 144 步，输出 24 步，监督样本 1872 个。算法共 15 种，分基线、统计、机器学习和深度学习。训练时按时间切分验证集，支持 log1p、标准化、早停和预测裁剪。任务状态、损失曲线和日志通过后台线程返回，完成后写 SQLite。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 秒：前端是 React 单页应用，五个页面共享 dataset context。图表全部用 ECharts，地图用本地 GeoJSON 注册。预测实验室的参数表单由后端算法注册表生成，训练时每 650 毫秒轮询任务状态。构建产物由 FastAPI 托管。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秒：结果部分。时间上 13 点最高，夜间仍有约 60% 的相对强度。空间上 Moran's I 0.42，p 值 0.005。聚类用 28 维特征，K=4，轮廓系数 0.319，PCA 前两维解释 83.1%。晚间生活型占 56.8%。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秒：DUOMO 的 24 步回测。GBDT MAE 449，MAPE 4.49%，相对季节朴素基线 Skill 93.6%；随机森林 MAE 2342，明显更差。这个窗口跨元旦，R² 受节日影响，平台保留真实结果。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秒：最后总结。实现结果是三个数据集、15 种算法、五个页面，前后端和实验档案都打通。限制主要是 SARIMA 季节项慢、区间是近似、单机单用户、跨数据集单位不能直接比。后续做导出、实时流和多变量模型。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5029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FLOWSCOPE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1874519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111111"/>
                </a:solidFill>
                <a:latin typeface="Arial"/>
                <a:ea typeface="PingFang SC"/>
              </a:rPr>
              <a:t>区域流量分析与预测系统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81635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Arial"/>
                <a:ea typeface="PingFang SC"/>
              </a:rPr>
              <a:t>技术实现与结果汇报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95528" y="3657600"/>
            <a:ext cx="2514600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5528" y="5916168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项目汇报 · 5 分钟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12680" y="5916168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5413248"/>
            <a:ext cx="4251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3 个数据集  ·  15 种算法  ·  5 个功能页面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474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DATA &amp;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0350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  <a:ea typeface="PingFang SC"/>
              </a:rPr>
              <a:t>数据概况与预测任务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24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  <a:ea typeface="PingFang SC"/>
              </a:rPr>
              <a:t>区域级宽表，按时间顺序切分训练、验证与测试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426464"/>
            <a:ext cx="1067379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76127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02 / 09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" y="1737360"/>
          <a:ext cx="640080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685800"/>
                <a:gridCol w="2697480"/>
                <a:gridCol w="86868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数据集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区域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时间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粒度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单位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米兰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88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2013.11 - 2014.01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10 min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流量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特伦蒂诺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223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2013.11 - 2014.01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10 min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流量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济南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148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2024.07 - 2024.08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15 min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字节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" y="3584448"/>
            <a:ext cx="6400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宽表：第一列时间，其余列区域；预处理后无缺失。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4041648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8,928 / 8,928 / 2,784 个时间点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52544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20,640 个观测点 · 459 个区域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0078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197510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Arial"/>
                <a:ea typeface="PingFang SC"/>
              </a:rPr>
              <a:t>区域级多步预测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24871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1D4ED8"/>
                </a:solidFill>
                <a:latin typeface="Arial"/>
                <a:ea typeface="PingFang SC"/>
              </a:rPr>
              <a:t>x[t-L+1 : t]  →  x[t+1 : t+H]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944368"/>
            <a:ext cx="36576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1">
                <a:solidFill>
                  <a:srgbClr val="111111"/>
                </a:solidFill>
                <a:latin typeface="Arial"/>
                <a:ea typeface="PingFang SC"/>
              </a:rPr>
              <a:t>L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：输入回看步数</a:t>
            </a:r>
            <a:r>
              <a:rPr sz="1000" b="1">
                <a:solidFill>
                  <a:srgbClr val="111111"/>
                </a:solidFill>
                <a:latin typeface="Arial"/>
                <a:ea typeface="PingFang SC"/>
              </a:rPr>
              <a:t>   H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：预测步数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1">
                <a:solidFill>
                  <a:srgbClr val="111111"/>
                </a:solidFill>
                <a:latin typeface="Arial"/>
                <a:ea typeface="PingFang SC"/>
              </a:rPr>
              <a:t>N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：训练历史长度，三者均可调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验证集：训练数据末尾 18%，按时间顺序切分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基线：季节朴素（season = 一天步数）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" y="4956048"/>
            <a:ext cx="1067104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8952" y="513892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预处理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5376672"/>
            <a:ext cx="6583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CSV → T×N float32 NPZ；区域与 GeoJSON 按名称求交集；缺失值前后填充。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13892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区域匹配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376672"/>
            <a:ext cx="3474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济南 148 / 162 个 GeoJSON 区域有流量；其余区域丢弃。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6053328"/>
            <a:ext cx="7772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数据来源：米兰 / 特伦蒂诺为区域网络流量；济南为 4G 下行字节。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474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0350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  <a:ea typeface="PingFang SC"/>
              </a:rPr>
              <a:t>系统架构与技术栈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24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  <a:ea typeface="PingFang SC"/>
              </a:rPr>
              <a:t>浏览器端、服务端、计算与数据层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426464"/>
            <a:ext cx="1067379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76127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03 / 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58952" y="1783080"/>
            <a:ext cx="660196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8952" y="1920240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交互层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92807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React 19 / Vite 8 / ECharts 6 / 自定义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24028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五个页面；地图、折线、热力、散点均使用 ECharts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8952" y="3017520"/>
            <a:ext cx="660196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8952" y="3154679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服务层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12724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FastAPI / Uvicorn / Pydantic / ThreadPoolExecutor(2)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4747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REST API、静态资源托管、后台训练任务与状态查询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" y="4251960"/>
            <a:ext cx="660196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8952" y="4389120"/>
            <a:ext cx="1143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计算与数据层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3616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NumPy / pandas / scikit-learn / statsmodels / SciPy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7091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NPZ 矩阵、GeoJSON 边界、SQLite 实验档案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8120" y="1783080"/>
            <a:ext cx="361188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1901952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主要接口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194560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GET  /api/datasets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GET  /api/datasets/{id}/temporal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POST /api/cluster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POST /api/forecast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GET  /api/jobs/{id}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GET  /api/runs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18120" y="3977639"/>
            <a:ext cx="361188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18120" y="4096512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部署与数据流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352544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FastAPI 托管前端 dist；单端口 8000。地图使用本地 GeoJSON，不依赖外部瓦片服务。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5715000"/>
            <a:ext cx="7680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GeoJSON + NPZ  →  DataStore  →  API  →  React / ECharts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6016752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训练任务：POST /api/forecast 创建 job，前端每 650 ms 轮询状态。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474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BACKEND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0350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  <a:ea typeface="PingFang SC"/>
              </a:rPr>
              <a:t>后端实现：数据与分析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24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  <a:ea typeface="PingFang SC"/>
              </a:rPr>
              <a:t>DataStore、时间序列分析、聚类特征与任务存储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426464"/>
            <a:ext cx="1067379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76127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04 / 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58952" y="1737360"/>
            <a:ext cx="51663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8952" y="1847088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DataStore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94560"/>
            <a:ext cx="51663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3 个 NPZ，float32 T×N 矩阵；时间索引与区域元数据同时加载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按小时 / 天聚合结果做内存缓存，接口只做切片与重采样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GeoJSON 区域按名称匹配；缺失值前后填充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" y="1737360"/>
            <a:ext cx="530352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0" y="1847088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时间与空间分析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3035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pandas groupby / resample 生成 24h 节律与星期热力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STL（period=7）、ACF（120 阶）、SciPy 周期图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Moran's I：6 近邻权重 + 199 次置换，输出 p 值与 z 分数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8952" y="3657600"/>
            <a:ext cx="51663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2" y="3767328"/>
            <a:ext cx="5166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功能区聚类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114800"/>
            <a:ext cx="51663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28 维特征：24h 归一化形态、周末比率、流量水平、CV、峰值强度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StandardScaler → KMeans / GaussianMixture / Agglomerative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轮廓系数选择 K；PCA 前两维用于散点展示与解释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26480" y="3657600"/>
            <a:ext cx="530352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26480" y="3767328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任务与存储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114800"/>
            <a:ext cx="53035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ThreadPoolExecutor(2)，任务状态包含进度、阶段、日志、学习曲线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取消事件在训练循环中检查；失败与异常写回任务状态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SQLite runs.db 保存配置、指标、预测序列与训练曲线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6144768"/>
            <a:ext cx="1051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接口：GET /api/datasets · POST /api/cluster · POST /api/forecast · GET /api/jobs/{id} · GET /api/runs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474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BACKEND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0350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  <a:ea typeface="PingFang SC"/>
              </a:rPr>
              <a:t>预测引擎与算法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24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  <a:ea typeface="PingFang SC"/>
              </a:rPr>
              <a:t>递归多步预测、15 种算法、训练任务状态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426464"/>
            <a:ext cx="1067379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76127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45920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WINDOW CONSTRUCTION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97480"/>
            <a:ext cx="8686800" cy="0"/>
          </a:xfrm>
          <a:prstGeom prst="line">
            <a:avLst/>
          </a:prstGeom>
          <a:ln w="1016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2642616"/>
            <a:ext cx="7040880" cy="10972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2642616"/>
            <a:ext cx="1280160" cy="1097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2642616"/>
            <a:ext cx="1463040" cy="10972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7863840" y="2523744"/>
            <a:ext cx="0" cy="384048"/>
          </a:xfrm>
          <a:prstGeom prst="line">
            <a:avLst/>
          </a:prstGeom>
          <a:ln w="1016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221284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Arial"/>
                <a:ea typeface="PingFang SC"/>
              </a:rPr>
              <a:t>训练历史 2,016 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0779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Arial"/>
                <a:ea typeface="PingFang SC"/>
              </a:rPr>
              <a:t>输入 144 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212848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输出 24 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82112"/>
            <a:ext cx="6583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监督样本 = 2,016 - 144 = 1,872；验证集取末尾 18%。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递归预测：每次输出回填输入窗口，直到 H 步；预测值裁剪到训练区间，避免反馈发散。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8952" y="3913632"/>
            <a:ext cx="1067104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8952" y="4041648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ALGORITHMS  / 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31596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基线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535424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Naive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Seasonal Naive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Moving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4315968"/>
            <a:ext cx="2148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统计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535424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Exp. Smoothing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Holt-Winters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SARIMA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315968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机器学习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535424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Ridge / Lasso / KNN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RF / ExtraTrees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GBDT / HistGB / SVR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4315968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深度学习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4535424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MLP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285232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注册表统一描述参数类型、范围与默认值，前端据此生成表单。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952" y="5504688"/>
            <a:ext cx="1067104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8952" y="5632704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训练：log1p 可选；StandardScaler；时间顺序验证；MLP 早停；预测值裁剪到训练区间。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" y="5888736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监控：ThreadPoolExecutor(2)；任务状态包含进度、阶段、日志、损失曲线；完成后写 SQLite。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6144768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指标：MAE / RMSE / MAPE / sMAPE / R² / WAPE / MASE / Skill；90% 残差区间。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474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0350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  <a:ea typeface="PingFang SC"/>
              </a:rPr>
              <a:t>前端实现：页面与交互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24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  <a:ea typeface="PingFang SC"/>
              </a:rPr>
              <a:t>React 单页应用、ECharts 图表、轮询任务状态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426464"/>
            <a:ext cx="1067379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76127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06 / 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58952" y="1737360"/>
            <a:ext cx="3337559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8952" y="1847088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页面结构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94560"/>
            <a:ext cx="33375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总览：KPI、趋势、地图、热力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时空探索：时间切片、播放、ACF、STL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功能聚类：特征开关、K 选择、PCA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预测实验室：窗口/参数表单、训练监控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评估对比：实验列表、指标表、曲线叠加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16552" y="1737360"/>
            <a:ext cx="33375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16552" y="1847088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状态与请求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194560"/>
            <a:ext cx="33375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dataset context 统一当前数据源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useEffect 拉取分析、聚类与实验数据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训练中每 650 ms 轮询 /api/jobs/{id}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loading / error / empty 状态统一处理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74152" y="1737360"/>
            <a:ext cx="3337560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74152" y="1847088"/>
            <a:ext cx="3337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Arial"/>
                <a:ea typeface="PingFang SC"/>
              </a:rPr>
              <a:t>可视化与表单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2194560"/>
            <a:ext cx="33375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ECharts：折线、热力、散点、地图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GeoJSON 通过 registerMap 本地注册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算法参数由 registry 元数据生成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000" b="0">
                <a:solidFill>
                  <a:srgbClr val="111111"/>
                </a:solidFill>
                <a:latin typeface="Arial"/>
                <a:ea typeface="PingFang SC"/>
              </a:rPr>
              <a:t>CSS Grid + 响应式布局，无组件库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" y="5074920"/>
            <a:ext cx="1067104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" y="5257800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构建：Vite 输出 dist，FastAPI 静态托管；地图不依赖外部瓦片服务。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577840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交互：区域搜索、时间滑杆与播放、聚类 K 值、算法参数、实验多选对比。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5897880"/>
            <a:ext cx="10424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结果：每个预测实验自动保存，评估页可回读完整预测序列与指标。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474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0350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  <a:ea typeface="PingFang SC"/>
              </a:rPr>
              <a:t>探索性分析与功能区聚类结果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24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  <a:ea typeface="PingFang SC"/>
              </a:rPr>
              <a:t>米兰，88 个区域，62 天；K =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426464"/>
            <a:ext cx="1067379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76127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5029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24 小时节律（全域均值 = 100）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8952" y="1783080"/>
          <a:ext cx="626364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15968" y="1847088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>
                <a:solidFill>
                  <a:srgbClr val="1D4ED8"/>
                </a:solidFill>
                <a:latin typeface="Arial"/>
                <a:ea typeface="PingFang SC"/>
              </a:rPr>
              <a:t>13:00 · 133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8952" y="5074920"/>
            <a:ext cx="623620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8952" y="523036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11111"/>
                </a:solidFill>
                <a:latin typeface="Arial"/>
                <a:ea typeface="PingFang SC"/>
              </a:rPr>
              <a:t>13:00 达到平均峰值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5477256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夜间仍保持约 60% 的相对强度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230368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1">
                <a:solidFill>
                  <a:srgbClr val="111111"/>
                </a:solidFill>
                <a:latin typeface="Arial"/>
                <a:ea typeface="PingFang SC"/>
              </a:rPr>
              <a:t>Moran's I = 0.42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477256"/>
            <a:ext cx="3108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6 近邻权重，199 次置换，p = 0.005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554480"/>
            <a:ext cx="4114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功能区聚类 / K =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874519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Arial"/>
                <a:ea typeface="PingFang SC"/>
              </a:rPr>
              <a:t>中负载 · 日间商务型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1874519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9 个区域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2528" y="1874519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10.2%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69480" y="2203703"/>
            <a:ext cx="423367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69480" y="2441448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1">
                <a:solidFill>
                  <a:srgbClr val="111111"/>
                </a:solidFill>
                <a:latin typeface="Arial"/>
                <a:ea typeface="PingFang SC"/>
              </a:rPr>
              <a:t>晚间生活型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2441448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50 个区域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2441448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56.8%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69480" y="2770632"/>
            <a:ext cx="423367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69480" y="3008376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Arial"/>
                <a:ea typeface="PingFang SC"/>
              </a:rPr>
              <a:t>低负载 · 日间商务型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3008376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7 个区域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3008376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8.0%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69480" y="3337560"/>
            <a:ext cx="423367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69480" y="3575304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19" b="0">
                <a:solidFill>
                  <a:srgbClr val="111111"/>
                </a:solidFill>
                <a:latin typeface="Arial"/>
                <a:ea typeface="PingFang SC"/>
              </a:rPr>
              <a:t>中负载 · 日间商务型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3575304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22 个区域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3575304"/>
            <a:ext cx="4206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25.0%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69480" y="3904488"/>
            <a:ext cx="423367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269480" y="431596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晚间生活型占 56.8%，是米兰最主要的区域形态。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989320"/>
            <a:ext cx="10698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方法：小时聚合；STL 周期 7 天；ACF 120 阶；聚类 28 维特征；轮廓系数 0.319；PCA 前两维解释 83.1%。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474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0350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  <a:ea typeface="PingFang SC"/>
              </a:rPr>
              <a:t>预测结果与误差分析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24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  <a:ea typeface="PingFang SC"/>
              </a:rPr>
              <a:t>米兰 DUOMO；输入 144 步，输出 24 步，训练历史 2,016 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426464"/>
            <a:ext cx="1067379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76127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54480"/>
            <a:ext cx="6400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10 分钟粒度，预测 4 小时；递归多步、18% 验证、log1p、标准化、预测裁剪。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58952" y="1783080"/>
          <a:ext cx="64922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60" y="175564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938528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11111"/>
                </a:solidFill>
                <a:latin typeface="Arial"/>
                <a:ea typeface="PingFang SC"/>
              </a:rPr>
              <a:t>449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2450591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平均绝对误差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75564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MAPE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938528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11111"/>
                </a:solidFill>
                <a:latin typeface="Arial"/>
                <a:ea typeface="PingFang SC"/>
              </a:rPr>
              <a:t>4.49%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2450591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平均绝对百分比误差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301752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R²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004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D4ED8"/>
                </a:solidFill>
                <a:latin typeface="Arial"/>
                <a:ea typeface="PingFang SC"/>
              </a:rPr>
              <a:t>0.667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712463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决定系数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017520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2004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>
                <a:solidFill>
                  <a:srgbClr val="1D4ED8"/>
                </a:solidFill>
                <a:latin typeface="Arial"/>
                <a:ea typeface="PingFang SC"/>
              </a:rPr>
              <a:t>93.6%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712463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相对季节朴素基线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58952" y="5074920"/>
          <a:ext cx="886968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463040"/>
                <a:gridCol w="1463040"/>
                <a:gridCol w="1463040"/>
                <a:gridCol w="1371600"/>
                <a:gridCol w="13716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模型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MAE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RMSE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MAPE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R²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6B7280"/>
                          </a:solidFill>
                          <a:latin typeface="Arial"/>
                          <a:ea typeface="PingFang SC"/>
                        </a:rPr>
                        <a:t>Skill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GBDT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449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578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4.49%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0.667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93.6%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随机森林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2,342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2,403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22.59%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-4.77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Arial"/>
                          <a:ea typeface="PingFang SC"/>
                        </a:rPr>
                        <a:t>73.5%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B w="6350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58952" y="6016752"/>
            <a:ext cx="7589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示例窗口跨元旦，R² 对窗口敏感；平台保留真实结果，不做修饰。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347472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60350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Arial"/>
                <a:ea typeface="PingFang SC"/>
              </a:rPr>
              <a:t>结论、限制与后续工作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112471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Arial"/>
                <a:ea typeface="PingFang SC"/>
              </a:rPr>
              <a:t>实现情况、已知边界与下一步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426464"/>
            <a:ext cx="10673791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76127" y="6492240"/>
            <a:ext cx="594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rial"/>
                <a:ea typeface="PingFang SC"/>
              </a:rP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2880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01  实现结果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40280"/>
            <a:ext cx="3154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3 个数据集、15 种算法、5 个页面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FastAPI + 后台任务 + SQLite 实验档案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时空分析、聚类、预测、评估全流程可运行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82880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02  已知限制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2240280"/>
            <a:ext cx="3154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SARIMA 季节项训练较慢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预测区间为残差近似，非校准区间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单机单用户；跨数据集单位不可直接比较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2712" y="182880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03  后续工作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2240280"/>
            <a:ext cx="31546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报告导出与实验分享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实时流数据接入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150" b="1">
                <a:solidFill>
                  <a:srgbClr val="1D4ED8"/>
                </a:solidFill>
                <a:latin typeface="Arial"/>
                <a:ea typeface="PingFang SC"/>
              </a:rPr>
              <a:t>·  </a:t>
            </a:r>
            <a:r>
              <a:rPr sz="1150" b="0">
                <a:solidFill>
                  <a:srgbClr val="111111"/>
                </a:solidFill>
                <a:latin typeface="Arial"/>
                <a:ea typeface="PingFang SC"/>
              </a:rPr>
              <a:t>多变量与空间相关模型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8952" y="5074920"/>
            <a:ext cx="10671048" cy="0"/>
          </a:xfrm>
          <a:prstGeom prst="line">
            <a:avLst/>
          </a:prstGeom>
          <a:ln w="762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952" y="5303520"/>
            <a:ext cx="9784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111111"/>
                </a:solidFill>
                <a:latin typeface="Arial"/>
                <a:ea typeface="PingFang SC"/>
              </a:rPr>
              <a:t>代码与运行说明：README.md；启动脚本：./run.sh；服务默认 127.0.0.1:8000。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53492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Arial"/>
                <a:ea typeface="PingFang SC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